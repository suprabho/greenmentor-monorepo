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6FA03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  ·  INTERNAL  ·  JUNE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GreenMentor Academy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Vizmaya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lessons and quizzes — and one content engine that authors once and renders everywhere.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4114800" cy="310896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526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TOOLING EXCLUDED — SEPARATE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Academy is the credibility engine — content is the bottleneck.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1440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is free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alone won't convert. What sells is a habit, a path, and a credential people can show.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91440" cy="3291840"/>
          </a:xfrm>
          <a:prstGeom prst="rect">
            <a:avLst/>
          </a:prstGeom>
          <a:solidFill>
            <a:srgbClr val="6741D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741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is produced 3× over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course material, community posts, and learner reports are authored separately and drift out of sync.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28800"/>
            <a:ext cx="91440" cy="329184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87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source, many surfaces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unit once; render it as a lesson, a community card, and an exportable report. No duplication.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content source.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108960" cy="1234440"/>
          </a:xfrm>
          <a:prstGeom prst="rect">
            <a:avLst/>
          </a:prstGeom>
          <a:solidFill>
            <a:srgbClr val="6741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VIZMAYA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layer (new)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0" y="1828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one structured source per unit; parse once into a typed model; render many ways.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91840"/>
            <a:ext cx="3108960" cy="1234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 · COMMUNITY · REPORTS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surfaces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32918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+ quizzes in the app, community posts &amp; challenges, and exportable certs / reports / booklets.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754880"/>
            <a:ext cx="3108960" cy="1234440"/>
          </a:xfrm>
          <a:prstGeom prst="rect">
            <a:avLst/>
          </a:prstGeom>
          <a:solidFill>
            <a:srgbClr val="5B6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19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VISMAY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468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(existing)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3360" y="47548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scenes, and layout primitives. A fixed substrate we configure — never redefine here.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author once → render through Vismay → consume everywhere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· CONTENT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levels, from Track down to Quiz.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Foundations · BRSR Practitioner · GHG Accounting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43000" y="2788920"/>
            <a:ext cx="103784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FA0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592" y="2916936"/>
            <a:ext cx="457200" cy="457200"/>
          </a:xfrm>
          <a:prstGeom prst="ellipse">
            <a:avLst/>
          </a:prstGeom>
          <a:solidFill>
            <a:srgbClr val="6FA03C"/>
          </a:solidFill>
          <a:ln/>
        </p:spPr>
      </p:sp>
      <p:sp>
        <p:nvSpPr>
          <p:cNvPr id="11" name="Text 9"/>
          <p:cNvSpPr/>
          <p:nvPr/>
        </p:nvSpPr>
        <p:spPr>
          <a:xfrm>
            <a:off x="1307592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27889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278892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beginner / intermediate / advanced, or free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645920" y="3657600"/>
            <a:ext cx="98755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8AAE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10512" y="3785616"/>
            <a:ext cx="457200" cy="457200"/>
          </a:xfrm>
          <a:prstGeom prst="ellipse">
            <a:avLst/>
          </a:prstGeom>
          <a:solidFill>
            <a:srgbClr val="8AAE55"/>
          </a:solidFill>
          <a:ln/>
        </p:spPr>
      </p:sp>
      <p:sp>
        <p:nvSpPr>
          <p:cNvPr id="16" name="Text 14"/>
          <p:cNvSpPr/>
          <p:nvPr/>
        </p:nvSpPr>
        <p:spPr>
          <a:xfrm>
            <a:off x="1810512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36576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themed unit (~20–40 min) — the unlockable path step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148840" y="4526280"/>
            <a:ext cx="9372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C887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13432" y="4654296"/>
            <a:ext cx="457200" cy="457200"/>
          </a:xfrm>
          <a:prstGeom prst="ellipse">
            <a:avLst/>
          </a:prstGeom>
          <a:solidFill>
            <a:srgbClr val="C8870B"/>
          </a:solidFill>
          <a:ln/>
        </p:spPr>
      </p:sp>
      <p:sp>
        <p:nvSpPr>
          <p:cNvPr id="21" name="Text 19"/>
          <p:cNvSpPr/>
          <p:nvPr/>
        </p:nvSpPr>
        <p:spPr>
          <a:xfrm>
            <a:off x="2313432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0" y="45262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74920" y="4526280"/>
            <a:ext cx="6263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bite-sized screen-set, 3–7 min — the atomic unit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651760" y="5394960"/>
            <a:ext cx="8869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741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16352" y="5522976"/>
            <a:ext cx="457200" cy="457200"/>
          </a:xfrm>
          <a:prstGeom prst="ellipse">
            <a:avLst/>
          </a:prstGeom>
          <a:solidFill>
            <a:srgbClr val="6741D9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29000" y="53949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53949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1–N check questions, at lesson and module gate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learning path (ordered, gated) · topic tags · credentials · per-learner progress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· "BITE-SIZED" DEFINED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lesson is an ordered set of typed blocks.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one screen + visual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48840"/>
            <a:ext cx="411480" cy="411480"/>
          </a:xfrm>
          <a:prstGeom prst="ellipse">
            <a:avLst/>
          </a:prstGeom>
          <a:solidFill>
            <a:srgbClr val="6FA03C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worked instance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148840"/>
            <a:ext cx="411480" cy="411480"/>
          </a:xfrm>
          <a:prstGeom prst="ellipse">
            <a:avLst/>
          </a:prstGeom>
          <a:solidFill>
            <a:srgbClr val="C8870B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callout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/ regulation / 'remember this'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49040"/>
            <a:ext cx="411480" cy="41148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721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270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diagram, short clip (pre-produced)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749040"/>
            <a:ext cx="411480" cy="411480"/>
          </a:xfrm>
          <a:prstGeom prst="ellipse">
            <a:avLst/>
          </a:prstGeom>
          <a:solidFill>
            <a:srgbClr val="6741D9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721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7720" y="4270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inline question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3429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3749040"/>
            <a:ext cx="411480" cy="411480"/>
          </a:xfrm>
          <a:prstGeom prst="ellipse">
            <a:avLst/>
          </a:prstGeom>
          <a:solidFill>
            <a:srgbClr val="8AAE55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3721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4270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takeaways → into the quiz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screen · large headings · generous whitespace · hierarchy by size, not just color.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· QUIZ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 types. Instant, mascot-driven feedback.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Single-select MCQ — the default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— 'select all that apply'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/ sequence (e.g. assessment steps)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pairs (e.g. emission → Scope)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prompt + applied-judgement MCQ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120640" cy="4023360"/>
          </a:xfrm>
          <a:prstGeom prst="rect">
            <a:avLst/>
          </a:prstGeom>
          <a:solidFill>
            <a:srgbClr val="13241A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5603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feedback + one-line explanation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 reacts — encourage / gentle retry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credits awarded; streak increments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gate quiz: pass threshold (~70%) + retry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8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feed leaderboard and badges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· LEARNER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tap to a credential on the profile.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12848" y="2743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487168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DCE8C8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(goals)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59936" y="2743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34256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34256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07024" y="2743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81344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DCE8C8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54112" y="2743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28432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0" y="2743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875520" y="27432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DCE8C8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0" y="2743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solidFill>
            <a:srgbClr val="FBEFD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· badges · earned credits · leaderboard feed back into the loop — driving the daily-habit metric.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personas, one Academy, different depth.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182880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Academy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 Explorer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beginner lessons, taster quizzes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→ conversion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Transitioner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courses + certifications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Deep, sequential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 ₹2k–7k + certs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Upskills self + team; needs 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Applied, role-based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Company-billed +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 / Builder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Upskills, signals credibility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client / personal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2011680"/>
            <a:ext cx="1088136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011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2900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Academy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6948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98280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VIZMAYA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source. Three jobs.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109728"/>
          </a:xfrm>
          <a:prstGeom prst="rect">
            <a:avLst/>
          </a:prstGeom>
          <a:solidFill>
            <a:srgbClr val="6741D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6741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workspace + versioned content library. Human-authored, schema-validated, preview-before-publish.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20240"/>
            <a:ext cx="3429000" cy="10972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286000"/>
            <a:ext cx="822960" cy="82296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unit onto community: concept → 'card of the day', quiz → weekly challenge, publish → announcement.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920240"/>
            <a:ext cx="3429000" cy="109728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286000"/>
            <a:ext cx="822960" cy="822960"/>
          </a:xfrm>
          <a:prstGeom prst="ellipse">
            <a:avLst/>
          </a:prstGeom>
          <a:solidFill>
            <a:srgbClr val="C8870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content + progress into docs: completion certs, cohort reports, syllabus booklets, study-guide exports.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proven single-source → multi-output pattern (BUILD_PLAN.md).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VIZMAYA · REPORT &amp; DOC OUTPUTS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 are renders of content + progress — no re-authoring.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91440" cy="16459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certificate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learner, course, credential, date, verifiable profile link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257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011680"/>
            <a:ext cx="91440" cy="16459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/ learning report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 — team completions, scores, time invested. Proof of upskilling.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57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91440" cy="16459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Syllabus / curriculum booklet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rendered as polished sales &amp; enablement collateral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257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886200"/>
            <a:ext cx="91440" cy="164592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Content-pack / study guide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module's lessons exported as a printable offline guide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 — Academy and Vizmaya in lockstep.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2468880" cy="1280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 — Foundations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37560" y="2029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catalog, course detail, lesson player, single-select quiz, wallet, purchase. GreenMentor theme on Vismay.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25968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Vizmaya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schema + parser, authoring workspace, publish flow, one course authored end-to-end.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337560"/>
            <a:ext cx="2468880" cy="1280160"/>
          </a:xfrm>
          <a:prstGeom prst="rect">
            <a:avLst/>
          </a:prstGeom>
          <a:solidFill>
            <a:srgbClr val="6FA0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 — Engagement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344728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path, all quiz types, streaks, badges, leaderboard, ratings, WhatsApp, public profile.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40142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Vizmaya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Lesson→community post, quiz→challenge, completion certificate (PDF).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754880"/>
            <a:ext cx="2468880" cy="1280160"/>
          </a:xfrm>
          <a:prstGeom prst="rect">
            <a:avLst/>
          </a:prstGeom>
          <a:solidFill>
            <a:srgbClr val="C887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54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— Depth &amp; proof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37560" y="48646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Live-vs-self-paced, certification cohort enrollment surface.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37560" y="543153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Vizmaya  </a:t>
            </a:r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report, syllabus booklet, study-guide export, webinar→recap unit.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&amp; OPEN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measure — and what's open.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conversion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057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F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streak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057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741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day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→ live everywhere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0574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87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06840" y="2880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SIGN-OFF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GreenMentor mascot — yes/no and visual direction?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schema — structured-markdown (recommended start) or block-based DB?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Per-quiz and per-challenge credit values?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6F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profile — what's public vs cohort-only?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6FA03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once.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everywhere.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7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Bite-sized lessons + quizzes, structured like myAIcademy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7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Vizmaya: one content source → Academy, Community, Reports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7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Rendered through Vismay · gamified · credentialed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&amp; tooling handled in a separate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June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GreenMentor Academy + Vizmaya</dc:title>
  <dc:subject>PptxGenJS Presentation</dc:subject>
  <dc:creator>Product</dc:creator>
  <cp:lastModifiedBy>Product</cp:lastModifiedBy>
  <cp:revision>1</cp:revision>
  <dcterms:created xsi:type="dcterms:W3CDTF">2026-06-08T22:23:49Z</dcterms:created>
  <dcterms:modified xsi:type="dcterms:W3CDTF">2026-06-08T22:23:49Z</dcterms:modified>
</cp:coreProperties>
</file>