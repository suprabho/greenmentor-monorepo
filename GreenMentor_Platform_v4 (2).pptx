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 ·  CORE TEAM ALIGNMENT  ·  JUNE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GreenMentor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62763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5420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We're Building This.  What We're Building.  How It All Works.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090672"/>
            <a:ext cx="1417320" cy="310896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906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v4.0  ·  Confidential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4773168"/>
            <a:ext cx="8321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MARKET REALITY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world changed. We adapted.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5176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727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6072" y="193852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Knowledge is 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322576"/>
            <a:ext cx="23408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answers any ESG question in 30 seconds for free. Courses alone are no longer a business. People will not pay for information they can get themselves.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508760"/>
            <a:ext cx="265176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508760"/>
            <a:ext cx="265176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727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93852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SaaS is Commoditizing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322576"/>
            <a:ext cx="23408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Standalone ESG software is being replicated by AI-native competitors at a fraction of our development cost. Point solutions competing on features alone are not fundable.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17336" y="1508760"/>
            <a:ext cx="265176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1508760"/>
            <a:ext cx="265176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5727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1928" y="193852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CAC is Unsustainable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1928" y="2322576"/>
            <a:ext cx="23408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Selling a course, then software, then consulting — each as a separate acquisition event — burns time and money we don't have. It doesn't scale.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041648"/>
            <a:ext cx="8321040" cy="749808"/>
          </a:xfrm>
          <a:prstGeom prst="rect">
            <a:avLst/>
          </a:prstGeom>
          <a:solidFill>
            <a:srgbClr val="0A1F14"/>
          </a:solidFill>
          <a:ln w="12700">
            <a:solidFill>
              <a:srgbClr val="0D5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1480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last 2 months we saw a sharp dip in revenue. This was not a fluke — it was a signal. The market is telling us to evolve.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PIVOT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are no longer selling knowledge.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are selling three things that AI cannot replace.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63040"/>
            <a:ext cx="54864" cy="96012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36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1554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Saved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92024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agents that execute entire ESG compliance workflows end to end — completing in hours what previously required 20–40 consultant hours. The work gets done, not explained.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832104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78608"/>
            <a:ext cx="54864" cy="960120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0432" y="2670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03580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trusted network of 40,000+ sustainability professionals. Jobs. Companies. Experts. Peers. Certification cohorts. Access to this network is genuinely scarce.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94176"/>
            <a:ext cx="832104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94176"/>
            <a:ext cx="54864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70432" y="37856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415137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Certifications and verified AI-executed workflows that prove you are serious about ESG — not just informed about it. Backed by IIM Bangalore, ASSOCHAM, Tata, Nestlé.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AUDIENCE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personas. One platform. One monopoly.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persona needs the others. Together they create a network no competitor can replicate.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993392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17320"/>
            <a:ext cx="1993392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517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177393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ESG Explorer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" y="2157984"/>
            <a:ext cx="171907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23113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Students, curious professionals, webinar attendees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9496" y="27432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9496" y="294436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 content, simplicity, inspiration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" y="3493008"/>
            <a:ext cx="1755648" cy="256032"/>
          </a:xfrm>
          <a:prstGeom prst="rect">
            <a:avLst/>
          </a:prstGeom>
          <a:solidFill>
            <a:srgbClr val="0A1F14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34930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forever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96" y="3822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Gives → Top of funnel volume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87752" y="1417320"/>
            <a:ext cx="1993392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1417320"/>
            <a:ext cx="1993392" cy="54864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1517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15768" y="177393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Career Transitioner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15768" y="2157984"/>
            <a:ext cx="171907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223113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Engineers, EHS, MBAs, fresh grads moving into ESG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15768" y="27432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Wants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15768" y="294436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Jobs, certifications, practical skills, placement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15768" y="3493008"/>
            <a:ext cx="1755648" cy="256032"/>
          </a:xfrm>
          <a:prstGeom prst="rect">
            <a:avLst/>
          </a:prstGeom>
          <a:solidFill>
            <a:srgbClr val="0A1F14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34930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revenue driver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15768" y="3822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Gives → Course revenue, talent supply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64024" y="1417320"/>
            <a:ext cx="1993392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64024" y="1417320"/>
            <a:ext cx="1993392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517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177393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Corporate Operator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92040" y="2157984"/>
            <a:ext cx="171907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23113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Sustainability managers, ESG leads, compliance teams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27432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Wants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92040" y="294436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BRSR done, Scope 3 done, software, automation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3493008"/>
            <a:ext cx="1755648" cy="256032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4930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card billing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3822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Gives → B2B revenue, workflow 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40296" y="1417320"/>
            <a:ext cx="1993392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0296" y="1417320"/>
            <a:ext cx="1993392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1517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68312" y="177393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Consultant / Builder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068312" y="2157984"/>
            <a:ext cx="171907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223113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 consultants, founders, freelancers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068312" y="27432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Wants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68312" y="294436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Multi-client tools, visibility, talent, credibility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68312" y="3493008"/>
            <a:ext cx="1755648" cy="256032"/>
          </a:xfrm>
          <a:prstGeom prst="rect">
            <a:avLst/>
          </a:prstGeom>
          <a:solidFill>
            <a:srgbClr val="0A1F14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68312" y="34930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 to client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68312" y="382219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Gives → Referrals, ecosystem value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MONOPOLY LOGIC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all four together create a monopoly.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competitor can build one of these. They cannot build all four without starting from our position.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828800" cy="347472"/>
          </a:xfrm>
          <a:prstGeom prst="rect">
            <a:avLst/>
          </a:prstGeom>
          <a:solidFill>
            <a:srgbClr val="0A1F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31720" y="1463040"/>
            <a:ext cx="2487168" cy="347472"/>
          </a:xfrm>
          <a:prstGeom prst="rect">
            <a:avLst/>
          </a:prstGeom>
          <a:solidFill>
            <a:srgbClr val="0A1F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4630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From Others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19472" y="1463040"/>
            <a:ext cx="2176272" cy="347472"/>
          </a:xfrm>
          <a:prstGeom prst="rect">
            <a:avLst/>
          </a:prstGeom>
          <a:solidFill>
            <a:srgbClr val="0A1F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630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Gives To Others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05472" y="1463040"/>
            <a:ext cx="1527048" cy="347472"/>
          </a:xfrm>
          <a:prstGeom prst="rect">
            <a:avLst/>
          </a:prstGeom>
          <a:solidFill>
            <a:srgbClr val="0A1F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96912" y="1463040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Model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847088"/>
            <a:ext cx="18288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01952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ESG Explorer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31720" y="1847088"/>
            <a:ext cx="2487168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901952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Content, inspiration, community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19472" y="1847088"/>
            <a:ext cx="2176272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1901952"/>
            <a:ext cx="204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of funnel volume, attention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05472" y="1847088"/>
            <a:ext cx="1527048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1901952"/>
            <a:ext cx="1399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→ conversion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596896"/>
            <a:ext cx="1828800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51760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Career Transitioner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31720" y="2596896"/>
            <a:ext cx="2487168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2651760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Jobs, projects, credibility signal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9472" y="2596896"/>
            <a:ext cx="2176272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651760"/>
            <a:ext cx="204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Talent supply, course revenue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2596896"/>
            <a:ext cx="1527048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96912" y="2651760"/>
            <a:ext cx="1399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Courses + Certifications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346704"/>
            <a:ext cx="18288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01568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Corporate Operator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31720" y="3346704"/>
            <a:ext cx="2487168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3401568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Talent to hire, consultants, software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19472" y="3346704"/>
            <a:ext cx="2176272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401568"/>
            <a:ext cx="204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postings, B2B revenue, workflow data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05472" y="3346704"/>
            <a:ext cx="1527048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96912" y="3401568"/>
            <a:ext cx="1399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card billing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096512"/>
            <a:ext cx="1828800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151376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Consultant / Builder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31720" y="4096512"/>
            <a:ext cx="2487168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4151376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Clients, talent, visibility, tools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19472" y="4096512"/>
            <a:ext cx="2176272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4151376"/>
            <a:ext cx="2048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supply, referrals, credibility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05472" y="4096512"/>
            <a:ext cx="1527048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6912" y="4151376"/>
            <a:ext cx="1399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 to client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7091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monopoly moment: a company trains on GreenMentor, runs software on GreenMentor, hires from GreenMentor, reports via GreenMentor. We become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Flywheel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feature serves this or it waits.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233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0817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Webinar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1,000+ attend free — always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" y="1828800"/>
            <a:ext cx="54864" cy="777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06524"/>
            <a:ext cx="40233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979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94310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Download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53412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Required to join — forces registration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" y="2363724"/>
            <a:ext cx="54864" cy="777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441448"/>
            <a:ext cx="40233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47802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688336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Forever free — AI detects intent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" y="2898648"/>
            <a:ext cx="54864" cy="777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76372"/>
            <a:ext cx="40233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678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01294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 Purchase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223260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₹2,000 – ₹7,000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" y="3433572"/>
            <a:ext cx="54864" cy="777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11296"/>
            <a:ext cx="4023360" cy="457200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54787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LongSight + AI 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75818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 to end workflow execution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" y="3968496"/>
            <a:ext cx="54864" cy="777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046220"/>
            <a:ext cx="4023360" cy="457200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1376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08279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Prompt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2931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 / Company card / Charge to client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" y="4503420"/>
            <a:ext cx="54864" cy="777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581144"/>
            <a:ext cx="40233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672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461772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Accumulates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828032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Proprietary ESG workflow dataset builds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1298448"/>
            <a:ext cx="4160520" cy="36758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4447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Key Insights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919472" y="1792224"/>
            <a:ext cx="382219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19472" y="1901952"/>
            <a:ext cx="658368" cy="219456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19019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Acquisition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19472" y="2157984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1,000+ weekly webinar attendees become app users the moment they click Join. Zero paid ads.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19472" y="2615184"/>
            <a:ext cx="658368" cy="219456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2615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Layer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19472" y="287121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and webinars are free forever. The paywall starts after trust is built.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19472" y="3328416"/>
            <a:ext cx="658368" cy="219456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33284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19472" y="35844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credit = ₹1. Minimum top-up ₹1,000. Simple and transparent.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19472" y="4041648"/>
            <a:ext cx="658368" cy="219456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40416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19472" y="42976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payment prompts convert individuals, corporate teams, and consultants — zero sales calls.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919472" y="4754880"/>
            <a:ext cx="658368" cy="219456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4754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Moat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19472" y="501091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AI agent workflow run generates proprietary ESG data. That dataset is the long-term moat.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app.  One login.  One ecosystem.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4871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2487168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5819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" y="1929384"/>
            <a:ext cx="2212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Forever free. Topic channels. AI intent detection. Streaks, badges, leaderboards. Locked premium channels.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1417320"/>
            <a:ext cx="24871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417320"/>
            <a:ext cx="2487168" cy="54864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5819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Webinars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55264" y="1929384"/>
            <a:ext cx="2212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live access always. Zoom/Zoho backend, app is the front door. 50 credits earned on attendance.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06440" y="1417320"/>
            <a:ext cx="24871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1417320"/>
            <a:ext cx="2487168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15819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1929384"/>
            <a:ext cx="2212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Courses from ₹2,000. Credits at point of purchase. Permanent revenue stream across all personas.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154680"/>
            <a:ext cx="24871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54680"/>
            <a:ext cx="2487168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331927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" y="3666744"/>
            <a:ext cx="2212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Premium live cohort programs. Direct payment. PGC INES at ₹2,00,000. Completion shows on public profile.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3154680"/>
            <a:ext cx="24871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3154680"/>
            <a:ext cx="248716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331927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LongSight +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55264" y="3666744"/>
            <a:ext cx="2212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ESG execution environment. AI agents run end to end workflows inside it. Three payment prompts built in.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3154680"/>
            <a:ext cx="248716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3154680"/>
            <a:ext cx="2487168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52744" y="331927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 Platform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52744" y="3666744"/>
            <a:ext cx="2212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free applications/month. Credits for more. Companies and consultants post using credits.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DIFFERENTIATION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Agents — Autonomous ESG Workforce.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agents execute entire compliance workflows end to end. LongSight is one of their tools. Humans oversee and approve.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8321040" cy="530352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44752"/>
            <a:ext cx="45720" cy="53035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96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Orchestrator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7465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Receives user intent. Breaks it into tasks. Assigns to specialist agents. Manages checkpoints. Delivers final output.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205472" y="1536192"/>
            <a:ext cx="1353312" cy="329184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153619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048256"/>
            <a:ext cx="83210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48256"/>
            <a:ext cx="45720" cy="530352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1031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BRSR Reporting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3500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company onboarding, data gap mapping, stakeholder outreach, calculations, narrative drafting, report generation.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05472" y="2139696"/>
            <a:ext cx="1353312" cy="329184"/>
          </a:xfrm>
          <a:prstGeom prst="rect">
            <a:avLst/>
          </a:prstGeom>
          <a:solidFill>
            <a:srgbClr val="0A1F14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213969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20–40 hrs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51760"/>
            <a:ext cx="83210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651760"/>
            <a:ext cx="45720" cy="530352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7066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Materiality Assessment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29535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10 materiality tasks guided, stakeholder analysis, issue prioritization, matrix output — end to end.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05472" y="2743200"/>
            <a:ext cx="1353312" cy="329184"/>
          </a:xfrm>
          <a:prstGeom prst="rect">
            <a:avLst/>
          </a:prstGeom>
          <a:solidFill>
            <a:srgbClr val="0A1F14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2743200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15–25 hrs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255264"/>
            <a:ext cx="83210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255264"/>
            <a:ext cx="45720" cy="530352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3101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3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" y="35570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chain emissions. Transparent methodology — shows every calculation. User can override any figure.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3346704"/>
            <a:ext cx="1353312" cy="329184"/>
          </a:xfrm>
          <a:prstGeom prst="rect">
            <a:avLst/>
          </a:prstGeom>
          <a:solidFill>
            <a:srgbClr val="0A1F14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3346704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6–8 hrs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858768"/>
            <a:ext cx="83210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858768"/>
            <a:ext cx="45720" cy="530352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913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Collection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" y="4160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Drafts and sends data request emails. Tracks responses. Sends follow-ups. Updates LongSight as data arrives.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05472" y="3950208"/>
            <a:ext cx="1353312" cy="329184"/>
          </a:xfrm>
          <a:prstGeom prst="rect">
            <a:avLst/>
          </a:prstGeom>
          <a:solidFill>
            <a:srgbClr val="0A1F14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05472" y="395020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Ongoing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462272"/>
            <a:ext cx="83210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462272"/>
            <a:ext cx="45720" cy="530352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5171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 Drafting Agent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" y="476402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ESG policy generation tailored to company profile, industry, and applicable regulatory frameworks.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05472" y="4553712"/>
            <a:ext cx="1353312" cy="329184"/>
          </a:xfrm>
          <a:prstGeom prst="rect">
            <a:avLst/>
          </a:prstGeom>
          <a:solidFill>
            <a:srgbClr val="0A1F14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455371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4–6 hrs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50749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output requires human review  ·  Agent shows reasoning not just results  ·  Full audit trail  ·  No regulatory submission without explicit human approval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INVESTOR DEMO WORKFLOW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BRSR Report: Zero to Finished — AI Executed.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what we show investors. 20–40 hours of consultant work. Done by the agent. Reviewed and approved by the human.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2336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" y="14721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Intent Capture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264" y="17282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states need. Orchestrator activates. Company profiling begins.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30552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037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9264" y="2185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Profiling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9264" y="24414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 conducts onboarding conversation. LongSight profile created.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43784"/>
            <a:ext cx="402336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169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264" y="2898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Definition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9264" y="31546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 maps exactly what applies. Roadmap presented for human approval.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557016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301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9264" y="36118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Gap Analysis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9264" y="38679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data point mapped. Gaps identified. Human reviews gap list.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70248"/>
            <a:ext cx="402336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434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" y="4325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9264" y="45811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Collection Agent activates. Emails sent. Responses tracked. LongSight updated.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402336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417320"/>
            <a:ext cx="45720" cy="603504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4904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66944" y="14721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Calculation &amp; Analysis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66944" y="17282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GHG, energy, water, waste calculated. Methodology shown. Human can override.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130552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130552"/>
            <a:ext cx="45720" cy="603504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037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66944" y="2185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Narrative Drafting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66944" y="24414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narrative sections drafted by agent. Human reviews and edits.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2843784"/>
            <a:ext cx="402336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843784"/>
            <a:ext cx="45720" cy="603504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9169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66944" y="2898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266944" y="31546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benchmarked against industry peers. Material risks flagged.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557016"/>
            <a:ext cx="402336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557016"/>
            <a:ext cx="45720" cy="603504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6301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66944" y="36118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 Compilation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66944" y="38679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sections assembled. Completeness check run against regulatory requirements.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4270248"/>
            <a:ext cx="402336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4270248"/>
            <a:ext cx="45720" cy="60350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43434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66944" y="4325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Sign-Off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266944" y="45811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report presented. Section by section review. Final approval → PDF generated.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USER 1  —  CORPORATE OPERATOR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Arjun — Corporate Sustainability Operator.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"My CFO wants the BRSR done by Q3. I have no previous reporting experience and no budget for a consulting firm."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26464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179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72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Attends webinar on phone during lunch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103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Downloads app to join. Starter credits activated.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670048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670048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7614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6072" y="2999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Completes BRSR Fundamentals course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" y="3346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Spends ₹2,000 credits. Earns badges and 100 bonus.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913632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050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6072" y="4242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Sees AI suggestion for LongSight in community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Enters LongSight with one tap. No new login.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1426464"/>
            <a:ext cx="3977640" cy="1097280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426464"/>
            <a:ext cx="45720" cy="10972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5179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82312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Starts BRSR workflow. Chooses company card.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82312" y="2103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conversion. Zero sales calls from GreenMentor.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670048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670048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7614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2312" y="2999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 collects data from his facilities team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3346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 drafts emails, tracks responses, updates LongSight.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913632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913632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0050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2312" y="4242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Downloads completed BRSR report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82312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CFO asks: how did you do this so fast? Gets the app link.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USER 2  —  CAREER TRANSITIONER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Neha — ESG Career Transitioner.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 see ESG jobs paying 60% more than my current role. I need job-ready skills and a credential that companies actually recognise."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26464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179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72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Attends career webinar. Downloads app.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103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Sees placement stories in community. Decides to invest.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670048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670048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761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6072" y="2999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Buys ESG Fundamentals course — ₹2,000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" y="3346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Finishes in 2 weeks commuting. Earns badge and credits.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913632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05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6072" y="4242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Completes GHG Accounting + BRSR Practitioner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Practices real BRSR workflow in LongSight. Adds to profile.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1426464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426464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5179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82312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Enrolls in PGC INES certification — ₹2,00,000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82312" y="2103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weeks of live weekend classes on GreenMentor platform.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670048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670048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761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2312" y="2999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Completes materiality assessment capstone project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3346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Using AI agents, with cohort, supervised by instructors.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913632"/>
            <a:ext cx="3977640" cy="1097280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913632"/>
            <a:ext cx="45720" cy="10972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005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2312" y="4242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Applies for ESG Analyst roles via jobs platform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82312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Hired. Salary increases 60%. Posts story in community.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USER 3  —  CONSULTANT / BUILDER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Priya — ESG Consultant and Builder.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 have 8 active clients. The work is repetitive and eating my margins. I can't scale without hiring — and hiring kills profit."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26464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26464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179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72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Discovers community. Joins webinar. Downloads app.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103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Explores LongSight. Sees AI agent demo. Immediate interest.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670048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670048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761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 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6072" y="2999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BRSR workflow for one client via AI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" y="3346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Selects 'Charge to my client'. Work billed directly.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913632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05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6072" y="4242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Upgrades to consultant tier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Multi-client dashboard. Each client has own workspace.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1426464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426464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5179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82312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3 materiality assessments simultaneously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82312" y="2103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Previously impossible without additional staff.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670048"/>
            <a:ext cx="3977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670048"/>
            <a:ext cx="45720" cy="1097280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761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2312" y="2999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Posts in Ask an Expert. Builds community visibility.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3346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clients find her through community profile.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913632"/>
            <a:ext cx="3977640" cy="1097280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913632"/>
            <a:ext cx="45720" cy="10972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005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2312" y="4242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Hires 2 junior consultants from jobs platform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82312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Career Transitioners with LongSight experience. Practice doubles.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ECONOMY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Credit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475488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Credit = ₹1   ·   Minimum top-up ₹1,000   ·   Starter credits on signup — enough to try, not enough to go deep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40233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39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13969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Starter credits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402336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780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 live webinar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47802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61488"/>
            <a:ext cx="40233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16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course module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8163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099816"/>
            <a:ext cx="402336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full course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15468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+100 bonus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38144"/>
            <a:ext cx="40233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 a new user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49300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776472"/>
            <a:ext cx="402336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831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7-day streak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38313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+50 bonus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114800"/>
            <a:ext cx="40233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169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 weekly challenge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416966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453128"/>
            <a:ext cx="402336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507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 in Ask an Expert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45079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1801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SPEND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084832"/>
            <a:ext cx="40233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21396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 course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21396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423160"/>
            <a:ext cx="402336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24780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Intermediate course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24780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₹4,000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761488"/>
            <a:ext cx="40233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2816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course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2816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₹7,000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099816"/>
            <a:ext cx="402336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3154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Webinar recording replay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3154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438144"/>
            <a:ext cx="40233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493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LongSight workflow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32320" y="3493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₹100–500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776472"/>
            <a:ext cx="402336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9744" y="38313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 workflow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32320" y="3831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₹500–5,000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4114800"/>
            <a:ext cx="40233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9744" y="41696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application beyond 10/mo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3232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Credits TBD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4453128"/>
            <a:ext cx="402336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4507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/ project posting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132320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Credits TBD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 free: Community  ·  Live webinars  ·  First 10 job applications per month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B2B MECHANIC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prompts. Zero sales calls.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monetization moment routes through one of these. No procurement. No demo. No sales team required.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65176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17320"/>
            <a:ext cx="265176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179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8288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Individual 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" y="2231136"/>
            <a:ext cx="2340864" cy="475488"/>
          </a:xfrm>
          <a:prstGeom prst="rect">
            <a:avLst/>
          </a:prstGeom>
          <a:solidFill>
            <a:srgbClr val="0A1F14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3113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"Use my personal credits"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798064"/>
            <a:ext cx="2340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Credits deducted from personal wallet. Used by Career Transitioners and ESG Explorers for courses, webinar replays, agent tasks.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417320"/>
            <a:ext cx="265176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417320"/>
            <a:ext cx="2651760" cy="5486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179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8288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Corporate Employee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2231136"/>
            <a:ext cx="2340864" cy="475488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23113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"Charge to my company"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798064"/>
            <a:ext cx="2340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billing details added once. All future LongSight and agent usage auto-billed to company account. Zero procurement process.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17336" y="1417320"/>
            <a:ext cx="265176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7336" y="1417320"/>
            <a:ext cx="26517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5179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81928" y="18288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ESG Consultant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81928" y="2231136"/>
            <a:ext cx="2340864" cy="475488"/>
          </a:xfrm>
          <a:prstGeom prst="rect">
            <a:avLst/>
          </a:prstGeom>
          <a:solidFill>
            <a:srgbClr val="0A1F14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223113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"Charge to my client"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1928" y="2798064"/>
            <a:ext cx="2340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 selected from consultant dashboard. Work billed directly to that client's account. Enables practice scaling without invoicing friction.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956048"/>
            <a:ext cx="8321040" cy="54864"/>
          </a:xfrm>
          <a:prstGeom prst="rect">
            <a:avLst/>
          </a:prstGeom>
          <a:solidFill>
            <a:srgbClr val="009E72"/>
          </a:solidFill>
          <a:ln w="12700">
            <a:solidFill>
              <a:srgbClr val="009E7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Phased Rollout — June to September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993392" cy="37673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1993392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28016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" y="151790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→ June 20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9496" y="177393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Alignment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" y="2121408"/>
            <a:ext cx="171907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2128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 credit parameters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9496" y="2596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Decide AI framework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9496" y="2980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Assess LongSight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" y="3364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 payment gateway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9496" y="3749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20 pilot users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9496" y="4133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off June 27 scope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87752" y="1188720"/>
            <a:ext cx="1993392" cy="37673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1188720"/>
            <a:ext cx="1993392" cy="45720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128016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15768" y="151790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June 27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15768" y="177393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15768" y="2121408"/>
            <a:ext cx="171907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15768" y="22128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login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15768" y="2596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wallet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15768" y="2980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feed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15768" y="3364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 purchase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15768" y="3749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LongSight access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15768" y="4133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Webinar via app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15768" y="4517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BRSR AI Agent live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15768" y="49011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card billing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15768" y="5285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 to client prompt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15768" y="5669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 platform basic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64024" y="1188720"/>
            <a:ext cx="1993392" cy="37673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4024" y="1188720"/>
            <a:ext cx="1993392" cy="4572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28016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151790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177393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92040" y="2121408"/>
            <a:ext cx="171907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2128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intent detection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2596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Streaks + leaderboards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2980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Materiality Agent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3364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3 Agent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3749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Consultant multi-client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92040" y="4133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pages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92040" y="4517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an Expert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92040" y="49011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1,500 users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92040" y="5285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B2B case studies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40296" y="1188720"/>
            <a:ext cx="1993392" cy="37673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40296" y="1188720"/>
            <a:ext cx="1993392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68312" y="128016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68312" y="151790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August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068312" y="177393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68312" y="2121408"/>
            <a:ext cx="1719072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22128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 Drafting Agent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068312" y="2596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Agent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068312" y="2980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PGC INES cohort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068312" y="3364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Locked channels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068312" y="3749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profiles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068312" y="4133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10,000 users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068312" y="4517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AI case studies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68312" y="49011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job placements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068312" y="52852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Investor deck ready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PROOF POINTS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show investors in September.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45720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5331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June 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810512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76072" y="23225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BRSR workflow end to 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" y="268833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76072" y="32004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card added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356616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6072" y="40782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Charge-to-client txn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234440"/>
            <a:ext cx="26517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234440"/>
            <a:ext cx="2651760" cy="4572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35331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July 31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1810512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1,500+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29000" y="23225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Registered 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68833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3+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429000" y="32004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txns per user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56616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429000" y="40782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case studies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7336" y="1234440"/>
            <a:ext cx="265176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7336" y="1234440"/>
            <a:ext cx="265176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35331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August 31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81928" y="1810512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10K+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281928" y="23225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Registered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268833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281928" y="32004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case studies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356616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25+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281928" y="40782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accounts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solidFill>
            <a:srgbClr val="0A1F1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7091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vision deck — real users, real credit transactions, real AI-executed ESG workflows for real Indian companies.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Principles.  Non-negotiable.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52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25272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Flywheel is north star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55448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decision routes back to it. If it doesn't serve the flywheel, it doesn't get built.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93392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205740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June 27 is the 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8408" y="23591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gets cut before the date moves. No exceptions.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98064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86207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Must-Have ships first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8408" y="316382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Good-to-Have does not exist until Phase 2.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602736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602736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366674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 credit params before coding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396849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single line of credit code on a moving foundation.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407408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407408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" y="447141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BRSR agent is Phase 1 primary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8408" y="477316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 else in Phase 1 supports the agent demo. This is what we show investors.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1188720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1188720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252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84648" y="125272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over quantity on day one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84648" y="155448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Buggy launch burns trust with our most loyal community. One first impression.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1993392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1993392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84648" y="205740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and webinars free forever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84648" y="23591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Non-negotiable. These are the top of the funnel. No paywall at the entrance.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2798064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2798064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84648" y="286207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Arjun, Neha, Priya are the benchmark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84648" y="316382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design decision: does it make their journey more magical or less?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3602736"/>
            <a:ext cx="397764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3602736"/>
            <a:ext cx="45720" cy="694944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84648" y="366674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are building an ESG workforce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84648" y="396849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copilot. Not a chatbot. An autonomous workforce with human oversight. Every team member must explain this.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 ITEMS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Resolve by June 20.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8321040" cy="28346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88720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18872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Must-Have vs Good-to-Have feature list finalized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05472" y="11887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Lead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8321040" cy="28346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517904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51790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starter allocation and all rates locked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05472" y="15179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792224"/>
            <a:ext cx="8321040" cy="28346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847088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84708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 orchestration framework decided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05472" y="1847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121408"/>
            <a:ext cx="8321040" cy="28346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176272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17627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LongSight API layer assessed — what needs to be built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05472" y="21762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450592"/>
            <a:ext cx="8321040" cy="28346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505456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250545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gateway confirmed — Razorpay or Stripe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472" y="25054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779776"/>
            <a:ext cx="8321040" cy="28346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2834640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283464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Webinar SDK confirmed — Zoom vs Zoho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05472" y="28346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108960"/>
            <a:ext cx="8321040" cy="28346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163824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16382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Consultant tier 'charge to client' scoped technically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05472" y="316382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438144"/>
            <a:ext cx="8321040" cy="28346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3493008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349300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pilot users identified across all 3 paying personas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05472" y="349300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Lead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3767328"/>
            <a:ext cx="8321040" cy="28346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3822192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382219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Learnyst migration plan confirmed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05472" y="38221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Lead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4096512"/>
            <a:ext cx="8321040" cy="28346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4151376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15137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3 industry verticals confirmed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05472" y="415137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4425696"/>
            <a:ext cx="8321040" cy="283464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" y="4480560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448056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requirements estimate prepared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05472" y="44805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" y="4754880"/>
            <a:ext cx="8321040" cy="28346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" y="4809744"/>
            <a:ext cx="164592" cy="1645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9E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" y="480974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plan owner assigned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205472" y="48097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TBD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9080" cy="514350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9080" y="0"/>
            <a:ext cx="45720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82296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GreenMentor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4048" y="140817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1956816"/>
            <a:ext cx="3218688" cy="0"/>
          </a:xfrm>
          <a:prstGeom prst="line">
            <a:avLst/>
          </a:prstGeom>
          <a:noFill/>
          <a:ln w="12700">
            <a:solidFill>
              <a:srgbClr val="009E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0848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are not upgrading our model.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are replacing it with one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9D1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market actually wants.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3218688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window is open.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will not stay open.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" y="47731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v4.0  ·  June 2026  · 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5968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are building: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914400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unified platform. One login. One credit economy.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15968" y="1426464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personas. One ecosystem. One monopoly.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1938528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and webinars free forever — the acquisition engine.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15968" y="2450592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Courses from ₹2,000 and certifications up to ₹2,00,000.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5968" y="2962656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agents that execute entire ESG workflows end to end.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15968" y="3474720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payment prompts — personal, company, client.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5968" y="3986784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 platform connecting all four personas.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4498848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moat — the most defensible asset in Indian ESG.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GreenMentor Unified Platform v4.0</dc:title>
  <dc:subject>PptxGenJS Presentation</dc:subject>
  <dc:creator>PptxGenJS</dc:creator>
  <cp:lastModifiedBy>PptxGenJS</cp:lastModifiedBy>
  <cp:revision>1</cp:revision>
  <dcterms:created xsi:type="dcterms:W3CDTF">2026-06-07T09:18:52Z</dcterms:created>
  <dcterms:modified xsi:type="dcterms:W3CDTF">2026-06-07T09:18:52Z</dcterms:modified>
</cp:coreProperties>
</file>